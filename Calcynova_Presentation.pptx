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8" r:id="rId2"/>
  </p:sldMasterIdLst>
  <p:notesMasterIdLst>
    <p:notesMasterId r:id="rId14"/>
  </p:notesMasterIdLst>
  <p:sldIdLst>
    <p:sldId id="256" r:id="rId3"/>
    <p:sldId id="268" r:id="rId4"/>
    <p:sldId id="258" r:id="rId5"/>
    <p:sldId id="259" r:id="rId6"/>
    <p:sldId id="271" r:id="rId7"/>
    <p:sldId id="261" r:id="rId8"/>
    <p:sldId id="263" r:id="rId9"/>
    <p:sldId id="269" r:id="rId10"/>
    <p:sldId id="270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49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10A9C-3466-4868-9947-C7E3C817F119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2FD6F-746C-4152-B7E3-F1EAC8FF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47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DDB18AE4-FF21-4E22-ABFD-714FC2F105AF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NextHikes</a:t>
            </a:r>
            <a:r>
              <a:rPr lang="en-US" dirty="0"/>
              <a:t> IT Solutions - Project-2 Building Basic Calculator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BC1F3D-3580-C2B6-6BA9-8EEFF0EA870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425677" y="688261"/>
            <a:ext cx="6983501" cy="1032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chemeClr val="tx2"/>
                </a:solidFill>
              </a:rPr>
              <a:t>Scientific Calculator - Calcynova 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77026-281A-6113-ED44-ED337127BF0F}"/>
              </a:ext>
            </a:extLst>
          </p:cNvPr>
          <p:cNvSpPr txBox="1"/>
          <p:nvPr userDrawn="1"/>
        </p:nvSpPr>
        <p:spPr>
          <a:xfrm>
            <a:off x="1895760" y="2153265"/>
            <a:ext cx="62355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Python-based calculator programs that perform basic and scientific calculations, this project is to enhance usability, presentation, and reusability, also extends a simple calculator into a Graphical User Interface (GUI) application.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The GUI is built using the Tkinter library, it supports graph plotting and data analysis.</a:t>
            </a:r>
          </a:p>
          <a:p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63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  <a:prstGeom prst="rect">
            <a:avLst/>
          </a:prstGeo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C9BCB8D-A0EC-4B15-8FC5-2C8719F69E4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  <a:prstGeom prst="rect">
            <a:avLst/>
          </a:prstGeo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1B3AFE60-A8FE-472D-B305-2ED76C88F41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8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C23BD76B-E24B-4254-B49D-5F047E5D3D9A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4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10C7005F-1542-4807-B19E-D91989872A95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1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7D1AD9B5-284D-4670-A8F0-4FFD566E9927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4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E57AC3FC-EA70-4B04-9EE6-934ADDE612F5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4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9ECC0FED-427E-4DE6-803D-ABAAEA2779CE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1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0C34FBED-810D-4F60-A714-F5D5EA8617D9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9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0BE4EF56-80F9-4D6D-94CC-1E1D655D8DE4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A1444FEB-D3C5-439B-9999-5FD3C42634E2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76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DEA8986A-E344-415A-B640-C58EDF1C628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61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1D21691F-1873-47FB-ADF3-BC3F3F08342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5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DCCA809F-9E2A-4AD0-BAE7-8130C8C53E0A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4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24A2B7F7-3B7B-4F53-8FD4-73E707CDFFA4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83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  <a:prstGeom prst="rect">
            <a:avLst/>
          </a:prstGeom>
        </p:spPr>
        <p:txBody>
          <a:bodyPr/>
          <a:lstStyle/>
          <a:p>
            <a:fld id="{CD780E3F-19BF-4107-B607-6455AC1B4E9D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00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  <a:prstGeom prst="rect">
            <a:avLst/>
          </a:prstGeo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/>
          <a:lstStyle/>
          <a:p>
            <a:fld id="{17A92469-CB48-4137-A2B2-D5C009F1203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56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20E3EB4-9DBB-4B3E-BA91-3AA127DD3F94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13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CE3C-FC19-444E-887D-AEB24A284D3B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97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4B3A-4EE2-4D96-AEE2-9D29AC3D804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50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E2C-D05E-4A2C-8BE7-05B42E7576F4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56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14FB-D996-4B13-8F45-5AA80C8B70C9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02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7FEF-E15A-4ADA-965C-FCDE63BA1F4C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206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7CF3-835E-432D-B6F6-A1C52712EC0A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029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1258-1AC0-4FAF-BA02-9B5ABF12754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937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6801B-A546-411A-94A3-34E2F625F322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54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CA8B-42E2-4A7A-8804-D51F8535BF4A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54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0B03-9499-4675-BFAC-11B176771CDC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748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47EDC-CB77-4467-996D-C567B9539DF4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8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D45A-E6DF-414B-BDEB-96FF474A1D7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45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BED8-AAF8-4356-97A9-964484F673FE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687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FEC9-9CAD-4CCB-B519-8C6CFFC0DC1B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96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86C67FCF-276A-4F69-990B-607523833D4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57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945A-4C70-4554-B729-1601F32A9CCE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7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Scientific Calculator - Calcynova 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C0C01599-26C3-4BB1-B648-B6E14C8B38A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673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9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26677B76-8582-4E42-89CD-0A0E1A618DA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NextHikes IT Solutions - Project-2 Building Basic Calculator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0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86241" y="697014"/>
            <a:ext cx="6983501" cy="1032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Scientific Calculator - Calcynova 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E0D2D-AB7D-7DE7-D48D-A37C98F96501}"/>
              </a:ext>
            </a:extLst>
          </p:cNvPr>
          <p:cNvSpPr txBox="1"/>
          <p:nvPr/>
        </p:nvSpPr>
        <p:spPr>
          <a:xfrm>
            <a:off x="4671629" y="5137354"/>
            <a:ext cx="329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By: Megha Parasher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63FA15E-0D51-4551-EBBB-15D8B6773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590F-BA1F-465A-871C-21FD5D655BEB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18DA490-8CE0-2887-081A-7BC97D5F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C1AB3-4A31-CF50-51DD-F32229EB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7F2D-0838-E5C9-7DFE-55379EE391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21046" y="448421"/>
            <a:ext cx="6343672" cy="709865"/>
          </a:xfrm>
          <a:prstGeom prst="rect">
            <a:avLst/>
          </a:prstGeom>
        </p:spPr>
        <p:txBody>
          <a:bodyPr/>
          <a:lstStyle/>
          <a:p>
            <a:r>
              <a:rPr lang="en-IN" sz="3600" b="1" dirty="0">
                <a:solidFill>
                  <a:schemeClr val="tx2"/>
                </a:solidFill>
              </a:rPr>
              <a:t>Introduction: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205DE-FB70-E574-1F26-63E50A350C7D}"/>
              </a:ext>
            </a:extLst>
          </p:cNvPr>
          <p:cNvSpPr txBox="1"/>
          <p:nvPr/>
        </p:nvSpPr>
        <p:spPr>
          <a:xfrm>
            <a:off x="1996580" y="1784149"/>
            <a:ext cx="61346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Python-based calculator programs that perform basic and scientific calculations.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This project is to enhance usability, presentation, and reusability. Also extends a simple calculator into a Graphical User Interface (GUI) application.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The GUI is built using the Tkinter library, it supports graph plotting and data analysis.</a:t>
            </a:r>
          </a:p>
          <a:p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E71F6-2A4F-6DAD-3C35-FD82A22D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14B6-65C2-47CC-AC5E-71BEF20D16CA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7D76B-0499-9942-2FDC-BCF22649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33750" y="481474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3600" b="1" dirty="0">
                <a:solidFill>
                  <a:schemeClr val="tx2"/>
                </a:solidFill>
              </a:rPr>
              <a:t>Why Tkinter</a:t>
            </a:r>
            <a:r>
              <a:rPr lang="en-IN" sz="3600" b="1" dirty="0">
                <a:solidFill>
                  <a:schemeClr val="tx2"/>
                </a:solidFill>
              </a:rPr>
              <a:t> ?</a:t>
            </a:r>
            <a:endParaRPr sz="36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77960" y="1497542"/>
            <a:ext cx="634367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Tkinter is Python’s standard GUI library.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by integrating Tkinter, the calculator becomes more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interactive, visually appealing.</a:t>
            </a:r>
          </a:p>
          <a:p>
            <a:pPr marL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easier to use and built-in, compared to command-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line programs.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  <a:p>
            <a:pPr marL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optimized for speed and efficiency.</a:t>
            </a:r>
          </a:p>
          <a:p>
            <a:pPr marL="0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beginner-friendly toolkit that makes it easy to                                      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develop efficient desktop applications, while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PyQt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is more complex and needs learning.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n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o external installation required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, but in case of </a:t>
            </a:r>
            <a:r>
              <a:rPr lang="en-IN" b="1" dirty="0" err="1">
                <a:solidFill>
                  <a:schemeClr val="accent6">
                    <a:lumMod val="50000"/>
                  </a:schemeClr>
                </a:solidFill>
              </a:rPr>
              <a:t>PyQt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  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its require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to be installed separately.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4F911-E993-FCAF-49E8-0BDF5589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63E1-066F-4A6E-A40E-DF8D9AB6DFC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DEB41-C52E-8B65-BC13-80783EC1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42138" y="573167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3600" b="1" dirty="0">
                <a:solidFill>
                  <a:schemeClr val="tx2"/>
                </a:solidFill>
              </a:rP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75427" y="2056580"/>
            <a:ext cx="6214844" cy="35306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Tkinter → GUI</a:t>
            </a:r>
          </a:p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Math → scientific functions</a:t>
            </a:r>
          </a:p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NumPy → numerical operations</a:t>
            </a:r>
          </a:p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Matplotlib → graph plotting</a:t>
            </a:r>
          </a:p>
          <a:p>
            <a:pPr marL="0"/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Statistics → statistical calculations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D0236-839B-A366-2188-8A37C92C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AD41-2EF7-402D-8CC2-C10F86F4ECE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595F-69D3-3B10-89B1-9F11AEEA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2927DB-2AD1-48ED-D061-FC448530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2B5C-2149-9798-393A-02B2EEC7B2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8917" y="379376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Calculator GUI Look</a:t>
            </a:r>
            <a:endParaRPr sz="3600" b="1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881E-F380-5396-253B-3EB49853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3AD41-2EF7-402D-8CC2-C10F86F4ECE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A87E7-891B-16CF-A199-F498037D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6E393-922E-6FB1-9BCE-A0C4301C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977" y="1159672"/>
            <a:ext cx="2448927" cy="51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1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2372F-727B-1D4A-E699-6A63E52B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4708-7E0C-4F59-AE0A-0D2FA0BAA0AD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49B35-A556-74AE-F75F-154535DB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73123" y="523087"/>
            <a:ext cx="6345238" cy="709613"/>
          </a:xfrm>
          <a:prstGeom prst="rect">
            <a:avLst/>
          </a:prstGeom>
        </p:spPr>
        <p:txBody>
          <a:bodyPr/>
          <a:lstStyle/>
          <a:p>
            <a:r>
              <a:rPr lang="en-IN" sz="3600" b="1" dirty="0">
                <a:solidFill>
                  <a:schemeClr val="tx2"/>
                </a:solidFill>
              </a:rPr>
              <a:t>Basic &amp; </a:t>
            </a:r>
            <a:r>
              <a:rPr sz="3600" b="1" dirty="0">
                <a:solidFill>
                  <a:schemeClr val="tx2"/>
                </a:solidFill>
              </a:rPr>
              <a:t>Scientific Functions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722438-2779-E27F-D0EF-FC75B7F9D1A4}"/>
              </a:ext>
            </a:extLst>
          </p:cNvPr>
          <p:cNvSpPr txBox="1">
            <a:spLocks/>
          </p:cNvSpPr>
          <p:nvPr/>
        </p:nvSpPr>
        <p:spPr>
          <a:xfrm>
            <a:off x="2102475" y="1764421"/>
            <a:ext cx="6194235" cy="361124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Addition, Subtraction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Multiplication, Division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Percentage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Clear &amp; Backspace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sin, cos, tan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log, ln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square, power</a:t>
            </a:r>
          </a:p>
          <a:p>
            <a:pPr marL="0"/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• constants (</a:t>
            </a:r>
            <a:r>
              <a:rPr lang="el-GR" dirty="0">
                <a:solidFill>
                  <a:schemeClr val="accent6">
                    <a:lumMod val="50000"/>
                  </a:schemeClr>
                </a:solidFill>
              </a:rPr>
              <a:t>π,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e)</a:t>
            </a:r>
          </a:p>
          <a:p>
            <a:pPr marL="0"/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0193" y="572165"/>
            <a:ext cx="6759623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b="1" dirty="0">
                <a:solidFill>
                  <a:schemeClr val="tx2"/>
                </a:solidFill>
              </a:rPr>
              <a:t>Statistical </a:t>
            </a:r>
            <a:r>
              <a:rPr lang="en-IN" b="1" dirty="0">
                <a:solidFill>
                  <a:schemeClr val="tx2"/>
                </a:solidFill>
              </a:rPr>
              <a:t>&amp; Advance </a:t>
            </a:r>
            <a:r>
              <a:rPr b="1" dirty="0">
                <a:solidFill>
                  <a:schemeClr val="tx2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29899" y="1468073"/>
            <a:ext cx="6435143" cy="412099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Mean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Median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Mode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Standard Deviation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Variance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Correlation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Graph plotting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Statistical analysis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Correlation calculation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Keyboard input support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Clean UI design</a:t>
            </a:r>
          </a:p>
          <a:p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C7866-CF69-1300-0CFB-A117EDCA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27C4-4C42-4582-8FB8-F49CE187368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8AF6-9ABE-EC49-3601-9F660E9D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5B1743-7683-CA8A-4953-615D6A13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887F-807D-8EF0-C0DF-7ACFD9A2A8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16972" y="595618"/>
            <a:ext cx="6650566" cy="856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Sample Inputs &amp; Outputs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B795E-97D2-9FD6-5AEA-4287C01F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1DF1-60FE-48CB-9006-519F46D9F0A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67D89-6A10-E5CB-E553-4498180D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89DC97-8D78-87A2-D425-E51272E54EEA}"/>
              </a:ext>
            </a:extLst>
          </p:cNvPr>
          <p:cNvSpPr txBox="1">
            <a:spLocks/>
          </p:cNvSpPr>
          <p:nvPr/>
        </p:nvSpPr>
        <p:spPr>
          <a:xfrm>
            <a:off x="2163424" y="1807830"/>
            <a:ext cx="5411019" cy="3198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b="0" i="0">
                <a:solidFill>
                  <a:schemeClr val="accent6">
                    <a:lumMod val="50000"/>
                  </a:schemeClr>
                </a:solidFill>
              </a:defRPr>
            </a:lvl1pPr>
            <a:lvl2pPr marL="685800" indent="-28346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6012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3444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50876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8146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0718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22590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2486200" indent="-2286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endParaRPr lang="en-IN" dirty="0"/>
          </a:p>
          <a:p>
            <a:r>
              <a:rPr lang="en-IN" dirty="0"/>
              <a:t>Input: 2+3*4  → Output: 14</a:t>
            </a:r>
          </a:p>
          <a:p>
            <a:r>
              <a:rPr lang="en-IN" dirty="0"/>
              <a:t>Input: sin(0) → Output: 0</a:t>
            </a:r>
          </a:p>
          <a:p>
            <a:r>
              <a:rPr lang="en-IN" dirty="0"/>
              <a:t>Input: 2,4,6,8 → Mean = 5</a:t>
            </a:r>
          </a:p>
          <a:p>
            <a:r>
              <a:rPr lang="en-IN" dirty="0"/>
              <a:t>Input: 1,2,2,3 → Mode = 2</a:t>
            </a:r>
          </a:p>
          <a:p>
            <a:r>
              <a:rPr lang="en-IN" dirty="0"/>
              <a:t>Input: 1,2,3;4,5,6 → Corr ≈ 1</a:t>
            </a:r>
          </a:p>
          <a:p>
            <a:r>
              <a:rPr lang="en-IN" dirty="0"/>
              <a:t>Input: x**2 → Graph plotted</a:t>
            </a:r>
          </a:p>
        </p:txBody>
      </p:sp>
    </p:spTree>
    <p:extLst>
      <p:ext uri="{BB962C8B-B14F-4D97-AF65-F5344CB8AC3E}">
        <p14:creationId xmlns:p14="http://schemas.microsoft.com/office/powerpoint/2010/main" val="342037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61B63A-086C-13FF-8D08-5499F66C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AB74-A120-4E5E-41C4-4B3D3E87A7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8583" y="453006"/>
            <a:ext cx="6343672" cy="856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Graph Feature and Demo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864A5-3E8E-25C6-36C0-F730B560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1DF1-60FE-48CB-9006-519F46D9F0A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051A8-DDA2-718C-FD6C-EB5E5DFA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AEC32F-C5DE-032B-15BC-0C8DFCD1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136" y="1678813"/>
            <a:ext cx="2332139" cy="4561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CB4089-241D-018A-143F-269F48C8D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158" y="3736096"/>
            <a:ext cx="2924285" cy="250391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43001E-0312-F0FF-5FF4-1663179E7117}"/>
              </a:ext>
            </a:extLst>
          </p:cNvPr>
          <p:cNvSpPr txBox="1">
            <a:spLocks/>
          </p:cNvSpPr>
          <p:nvPr/>
        </p:nvSpPr>
        <p:spPr>
          <a:xfrm>
            <a:off x="4450639" y="1661066"/>
            <a:ext cx="3980298" cy="194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Plot graphs using expressions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Supports multiple equations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Uses NumPy and Matplotlib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• Example: sin(x), x**2</a:t>
            </a:r>
          </a:p>
        </p:txBody>
      </p:sp>
    </p:spTree>
    <p:extLst>
      <p:ext uri="{BB962C8B-B14F-4D97-AF65-F5344CB8AC3E}">
        <p14:creationId xmlns:p14="http://schemas.microsoft.com/office/powerpoint/2010/main" val="158335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82410" y="726303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b="1" dirty="0">
                <a:solidFill>
                  <a:schemeClr val="tx2"/>
                </a:solidFill>
              </a:rP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87034" y="2120719"/>
            <a:ext cx="5339048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Students for math calculations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Data analysis basics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Graph visualization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Learning Python GUI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• Scientific computations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683FB-33B7-8167-F818-06A3AD97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0F58-2479-4136-9AF3-4C5FA08E79AD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31B3-F943-FD23-24FE-D1F56889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86755" y="750929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b="1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20018" y="2541279"/>
            <a:ext cx="6345260" cy="214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Calcynova is more than a calculator.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It combines GUI, math, and data analysis.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Useful for learning and real-world applications.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User-friendly , all in one solution for calculations.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72984-A638-3E96-81B6-F195967C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4A84-4EBB-4BCB-8280-BC1476C95D2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02294-8F81-89FD-FB48-3F8FA3A6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IT Solutions - Project-2 Building Basic Calculator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n Boardroom">
    <a:dk1>
      <a:sysClr val="windowText" lastClr="000000"/>
    </a:dk1>
    <a:lt1>
      <a:sysClr val="window" lastClr="FFFFFF"/>
    </a:lt1>
    <a:dk2>
      <a:srgbClr val="3B3059"/>
    </a:dk2>
    <a:lt2>
      <a:srgbClr val="EBEBEB"/>
    </a:lt2>
    <a:accent1>
      <a:srgbClr val="B31166"/>
    </a:accent1>
    <a:accent2>
      <a:srgbClr val="E33D6F"/>
    </a:accent2>
    <a:accent3>
      <a:srgbClr val="E45F3C"/>
    </a:accent3>
    <a:accent4>
      <a:srgbClr val="E9943A"/>
    </a:accent4>
    <a:accent5>
      <a:srgbClr val="9B6BF2"/>
    </a:accent5>
    <a:accent6>
      <a:srgbClr val="D53DD0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1241</TotalTime>
  <Words>485</Words>
  <Application>Microsoft Office PowerPoint</Application>
  <PresentationFormat>On-screen Show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 Boardroom</vt:lpstr>
      <vt:lpstr>1_Ion Boardroom</vt:lpstr>
      <vt:lpstr>Scientific Calculator - Calcynova 🔥</vt:lpstr>
      <vt:lpstr>Introduction:</vt:lpstr>
      <vt:lpstr>Why Tkinter ?</vt:lpstr>
      <vt:lpstr>Libraries Used</vt:lpstr>
      <vt:lpstr>Calculator GUI Look</vt:lpstr>
      <vt:lpstr>Basic &amp; Scientific Functions</vt:lpstr>
      <vt:lpstr>Statistical &amp; Advance Functions</vt:lpstr>
      <vt:lpstr>Sample Inputs &amp; Outputs</vt:lpstr>
      <vt:lpstr>Graph Feature and Demo</vt:lpstr>
      <vt:lpstr>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AMOGH PARASHER</cp:lastModifiedBy>
  <cp:revision>7</cp:revision>
  <dcterms:created xsi:type="dcterms:W3CDTF">2013-01-27T09:14:16Z</dcterms:created>
  <dcterms:modified xsi:type="dcterms:W3CDTF">2026-04-19T06:34:42Z</dcterms:modified>
  <cp:category/>
</cp:coreProperties>
</file>